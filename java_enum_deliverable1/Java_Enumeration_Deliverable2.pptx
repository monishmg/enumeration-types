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847AC14-C24D-4ED9-9F91-37AAF9749B8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Project deliverables provided by the user.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DA1928-AEA0-436C-AAC8-76820D2864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enum guide: Java 5.0 added linguistic support; typesafe enum pattern was verbose and could not be used in switch statements: https://docs.oracle.com/javase/8/docs/technotes/guides/language/enums.html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tutorial on enum types and enum keyword: https://docs.oracle.com/javase/tutorial/java/javaOO/enum.html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C56B38-6DCD-4DC7-8064-A87CBE386E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tutorial: enum keyword, predefined constants, and use cases for fixed sets of values: https://docs.oracle.com/javase/tutorial/java/javaOO/enum.html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Java Language Specification section 8.9 (Enum Classes): https://docs.oracle.com/javase/specs/jls/se21/html/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80F58B-7564-4C78-8738-0DC7FDFA36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enum guide: enums are full-fledged classes with methods and fields; they are Comparable and Serializable: https://docs.oracle.com/javase/8/docs/technotes/guides/language/enums.html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JEP 361 switch expressions and exhaustiveness: https://openjdk.org/jeps/361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FA442-15AA-4648-9594-1E6D0FF39A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tutorial and enum guide for declaration, values(), 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class-like behavior: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https://docs.oracle.com/javase/tutorial/java/javaOO/enum.ht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ml ;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https://docs.oracle.com/javase/8/docs/technotes/guides/lang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uage/enums.html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Java SE 21 Enum API: common base class and serialization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behavior: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https://docs.oracle.com/en/java/javase/21/docs/api/java.base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/java/lang/Enum.html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JEP 361 on switch expression exhaustiveness: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https://openjdk.org/jeps/361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1EB6A8-7B70-47F7-92A7-F388FD68F8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enum guide on values() iteration and Comparable/Serializable: https://docs.oracle.com/javase/8/docs/technotes/guides/language/enums.html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Java SE 21 Enum API on serialization behavior: https://docs.oracle.com/en/java/javase/21/docs/api/java.base/java/lang/Enum.html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2279E7-0C25-4133-B95F-9E57C332BF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enum guide on enums as full-fledged classes and 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Comparable/Serializable: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https://docs.oracle.com/javase/8/docs/technotes/guides/language/en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ums.html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Java SE 21 Enum API noting specialized collections for enums: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https://docs.oracle.com/en/java/javase/21/docs/api/java.base/java/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lang/Enum.html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C7628-89BD-4A45-9D72-9DDE1AE461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Oracle enum guide on class-like behavior, iteration, and stronger type distinctions than int constants: https://docs.oracle.com/javase/8/docs/technotes/guides/language/enums.html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Java SE 21 Enum API on serialization and base-class behavior: https://docs.oracle.com/en/java/javase/21/docs/api/java.base/java/lang/Enum.html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C3A767-3746-4FB7-B0EB-6F7269D2B3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Case-study code is based on the user's Deliverable 1 Java program for Applied Enumeration.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D027E9-EF7B-478C-A7A4-56A22F8B41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Java tutorial on fixed predefined constants and enum usage: https://docs.oracle.com/javase/tutorial/java/javaOO/enum.html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User Deliverable 1 Program 1 code sample adapted for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524ADC-DD87-4E70-A227-7D666D7888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JEP 361, section on exhaustiveness: switch expressions must be exhaustive; switch statements are not required to be exhaustive: https://openjdk.org/jeps/361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User Deliverable 1 Program 2 code sample adapted for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086A47-3334-49DC-8AD4-09C83C9A23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User Deliverable 1 Program 3 code sample adapted for presentation.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85F4D-A4CA-423B-93A8-AD890CF51E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[Sources]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Comparative conclusion here is a synthesis based on official Java enum documentation and the user's Deliverable 1 Java code examples.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 Primary references: Oracle enum guide, Java tutorial, Java SE 21 Enum API, JEP 361.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CFF04D-C4FF-4F85-95E8-42CFA1427F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1E37C31-ACEE-40B6-8176-76742861C29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319680"/>
          </a:xfrm>
          <a:prstGeom prst="rect">
            <a:avLst/>
          </a:prstGeom>
          <a:solidFill>
            <a:srgbClr val="173f5f"/>
          </a:solidFill>
          <a:ln w="12700">
            <a:solidFill>
              <a:srgbClr val="173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173f5f"/>
          </a:solidFill>
          <a:ln w="12700">
            <a:solidFill>
              <a:srgbClr val="173f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AE983B-0E93-45ED-A757-948F8B03F835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"/>
          <p:cNvSpPr/>
          <p:nvPr/>
        </p:nvSpPr>
        <p:spPr>
          <a:xfrm>
            <a:off x="822960" y="960120"/>
            <a:ext cx="200880" cy="49834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234440" y="1143000"/>
            <a:ext cx="6217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Enumeration Types in Java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261800" y="182880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Aptos"/>
              </a:rPr>
              <a:t>Deliverable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040880" y="1143000"/>
            <a:ext cx="3840120" cy="2148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040880" y="1143000"/>
            <a:ext cx="109440" cy="2148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242120" y="1252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What this covers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242120" y="1527120"/>
            <a:ext cx="352908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1. Java enum background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2. Syntax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3. Feature matrix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4. Design analysis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5. Case study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6. Beyond normal usage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7. Java-side conclusion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1189080" y="5285520"/>
            <a:ext cx="4754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Monish M Gasikanti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Vansh Mago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Zayn Shareef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1463040" y="3127320"/>
            <a:ext cx="4717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463040" y="4636080"/>
            <a:ext cx="9235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463040" y="4910400"/>
            <a:ext cx="9198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ldNum" idx="5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1305FD-D3AD-4AB8-BB74-9CB41BF15280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Language Background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When Java added enums, why they were added, and what problem they solved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640080" y="1325880"/>
            <a:ext cx="3657240" cy="2148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640080" y="1325880"/>
            <a:ext cx="109440" cy="21484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841320" y="1435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Before Java 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841320" y="1710000"/>
            <a:ext cx="33462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Aptos"/>
                <a:ea typeface="Aptos"/>
              </a:rPr>
              <a:t>Java developers commonly used public static final int constants or the typesafe enum pattern. Oracle notes that the typesafe enum pattern was verbose, error-prone, and its constants could not be used in switch statements.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4480560" y="1325880"/>
            <a:ext cx="3657240" cy="2148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4480560" y="1325880"/>
            <a:ext cx="109440" cy="2148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4681800" y="143568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What changed in Java 5.0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4681800" y="1710000"/>
            <a:ext cx="33462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Aptos"/>
                <a:ea typeface="Aptos"/>
              </a:rPr>
              <a:t>Oracle's language guide says that Java 5.0 added linguistic support for enumerated types. The enum declaration created a full-fledged class rather than a glorified integer.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8321040" y="1325880"/>
            <a:ext cx="3200040" cy="21484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8321040" y="1325880"/>
            <a:ext cx="109440" cy="214848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8522280" y="143568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Why this mattered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8522280" y="1710000"/>
            <a:ext cx="288900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pc="-1" strike="noStrike">
                <a:solidFill>
                  <a:srgbClr val="1e293b"/>
                </a:solidFill>
                <a:latin typeface="Aptos"/>
                <a:ea typeface="Aptos"/>
              </a:rPr>
              <a:t>Enums made APIs safer and more readable. They let the compiler distinguish one domain of constants from another, and they also allowed fields, methods, interfaces, and iteration through values().</a:t>
            </a:r>
            <a:endParaRPr b="0" lang="en-US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713160" y="3886200"/>
            <a:ext cx="3657240" cy="178272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877680" y="3959280"/>
            <a:ext cx="3328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Simple enum declaration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859680" y="4178880"/>
            <a:ext cx="33645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4572000" y="4005000"/>
            <a:ext cx="64918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Enums arrived in Java 5.0 (2004).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They solved the safety and readability problems of int constants.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Java enums were designed as objects with behavior, not as raw numeric labels.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sldNum" idx="6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555B38-CD00-4313-A965-30A70BE97DE3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857520" y="4343400"/>
            <a:ext cx="2820600" cy="91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Syntax Overview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Basic declaration, assignment, and built-in enum information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685800" y="1325880"/>
            <a:ext cx="5074560" cy="4480200"/>
          </a:xfrm>
          <a:prstGeom prst="roundRect">
            <a:avLst>
              <a:gd name="adj" fmla="val 1224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850320" y="1398960"/>
            <a:ext cx="474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Basic enum usage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831960" y="1618560"/>
            <a:ext cx="47818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1 </a:t>
            </a:r>
            <a:r>
              <a:rPr b="0" lang="en-US" sz="1400" spc="-1" strike="noStrike">
                <a:solidFill>
                  <a:srgbClr val="66d9ef"/>
                </a:solidFill>
                <a:latin typeface="Consolas"/>
                <a:ea typeface="Consolas"/>
              </a:rPr>
              <a:t>enum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 TrafficLight 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{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2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    RED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,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 YELLOW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,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 GREEN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3 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4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5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TrafficLight light 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=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 TrafficLight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RED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6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System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out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println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(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light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name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());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7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System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out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println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(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light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.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ordinal</a:t>
            </a:r>
            <a:r>
              <a:rPr b="0" lang="en-US" sz="1400" spc="-1" strike="noStrike">
                <a:solidFill>
                  <a:srgbClr val="f8f8f2"/>
                </a:solidFill>
                <a:latin typeface="Consolas"/>
                <a:ea typeface="Consolas"/>
              </a:rPr>
              <a:t>());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5989320" y="1389960"/>
            <a:ext cx="2514240" cy="1828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5989320" y="1389960"/>
            <a:ext cx="109440" cy="182844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6190560" y="1499760"/>
            <a:ext cx="2239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What to point out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6190560" y="1774080"/>
            <a:ext cx="2203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enum is a language keyword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constants are scoped as Type.CONSTANT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300" spc="-1" strike="noStrike">
                <a:solidFill>
                  <a:srgbClr val="1e293b"/>
                </a:solidFill>
                <a:latin typeface="Aptos"/>
                <a:ea typeface="Aptos"/>
              </a:rPr>
              <a:t>name() returns the declared name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8732520" y="1389960"/>
            <a:ext cx="2697120" cy="1828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8732520" y="1389960"/>
            <a:ext cx="109440" cy="182844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8933760" y="1499760"/>
            <a:ext cx="2422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Important caution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8933760" y="1774080"/>
            <a:ext cx="2386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pc="-1" strike="noStrike">
                <a:solidFill>
                  <a:srgbClr val="1e293b"/>
                </a:solidFill>
                <a:latin typeface="Aptos"/>
                <a:ea typeface="Aptos"/>
              </a:rPr>
              <a:t>ordinal() is available, but it should not be treated as stable business data. Reordering constants can change ordinals and break logic if code depends on them.</a:t>
            </a:r>
            <a:endParaRPr b="0" lang="en-US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5989320" y="3474720"/>
            <a:ext cx="5440320" cy="1919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5989320" y="3474720"/>
            <a:ext cx="109440" cy="191988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6190560" y="3584520"/>
            <a:ext cx="5166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What this demonstrates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16"/>
          <p:cNvSpPr/>
          <p:nvPr/>
        </p:nvSpPr>
        <p:spPr>
          <a:xfrm>
            <a:off x="6190560" y="3858840"/>
            <a:ext cx="5129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60" spc="-1" strike="noStrike">
                <a:solidFill>
                  <a:srgbClr val="1e293b"/>
                </a:solidFill>
                <a:latin typeface="Aptos"/>
                <a:ea typeface="Aptos"/>
              </a:rPr>
              <a:t>This syntax directly supports Deliverable 1 Program 1: declaration, variable assignment, and printing. It also shows that enum values are not assigned custom integers by default; they have names and ordinals.</a:t>
            </a:r>
            <a:endParaRPr b="0" lang="en-US" sz="12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sldNum" idx="7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8B9BE4-FA9E-4A9F-BA45-1CBDDBB6EC38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Syntax Overview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Enums with fields, constructors, methods, and switch expressions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640080" y="1325880"/>
            <a:ext cx="3931560" cy="4251600"/>
          </a:xfrm>
          <a:prstGeom prst="roundRect">
            <a:avLst>
              <a:gd name="adj" fmla="val 1395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804600" y="1398960"/>
            <a:ext cx="3602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Enum with state and behavior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786240" y="1618560"/>
            <a:ext cx="363888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4800600" y="1325880"/>
            <a:ext cx="3565800" cy="425160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4965120" y="1398960"/>
            <a:ext cx="3236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Enhanced switch expression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4946760" y="1618560"/>
            <a:ext cx="3273120" cy="38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8595360" y="1371600"/>
            <a:ext cx="2742840" cy="205704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8595360" y="1371600"/>
            <a:ext cx="109440" cy="20570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8796600" y="14814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3f5f"/>
                </a:solidFill>
                <a:latin typeface="Aptos"/>
                <a:ea typeface="Aptos"/>
              </a:rPr>
              <a:t>Why this matters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8796600" y="1755720"/>
            <a:ext cx="24318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Aptos"/>
                <a:ea typeface="Aptos"/>
              </a:rPr>
              <a:t>Java enums are class-like: they can store data, expose methods, and participate in structured control flow. This is much richer than treating enums as plain integers.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8595360" y="3657600"/>
            <a:ext cx="2742840" cy="173700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8595360" y="3657600"/>
            <a:ext cx="109440" cy="17370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8796600" y="376740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3f5f"/>
                </a:solidFill>
                <a:latin typeface="Aptos"/>
                <a:ea typeface="Aptos"/>
              </a:rPr>
              <a:t>Connection to Deliverable 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8796600" y="4041720"/>
            <a:ext cx="24318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e293b"/>
                </a:solidFill>
                <a:latin typeface="Aptos"/>
                <a:ea typeface="Aptos"/>
              </a:rPr>
              <a:t>Program 3 uses enum fields and methods. Program 2 uses both classic switch and enhanced switch to show exhaustiveness behavior and missing-case handling.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8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68A7EF-9238-42DD-AE9F-935CF1425B20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640080" y="1828800"/>
            <a:ext cx="3931920" cy="320040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4791600" y="1828800"/>
            <a:ext cx="3574800" cy="320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Feature Matrix (Part 1)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Required Appendix A categories for Java enums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2" name="Table 0"/>
          <p:cNvGraphicFramePr/>
          <p:nvPr/>
        </p:nvGraphicFramePr>
        <p:xfrm>
          <a:off x="548640" y="1298520"/>
          <a:ext cx="11109600" cy="4096080"/>
        </p:xfrm>
        <a:graphic>
          <a:graphicData uri="http://schemas.openxmlformats.org/drawingml/2006/table">
            <a:tbl>
              <a:tblPr/>
              <a:tblGrid>
                <a:gridCol w="2057400"/>
                <a:gridCol w="9052560"/>
              </a:tblGrid>
              <a:tr h="383760">
                <a:tc>
                  <a:txBody>
                    <a:bodyPr lIns="54720" rIns="54720" tIns="54720" bIns="547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Feature Category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173f5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Java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173f5f"/>
                    </a:solidFill>
                  </a:tcPr>
                </a:tc>
              </a:tr>
              <a:tr h="7315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Basic Declaration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Uses the built-in enum keyword. Constants are declared inside the enum body. By default, Java gives each constant a name and ordinal position; custom fields can be added, but they are not automatic integer values.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Underlying Type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Each enum is a special class that extends java.lang.Enum. Enum values are reference types, not raw ints, so the design is strongly type-safe.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Associated Values / Data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Yes. Each enum constant can carry fixed data through constructor arguments and fields, such as code, label, or message.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Methods on Enums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Yes. Java enums can define methods, implement interfaces, and even provide constant-specific behavior.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Exhaustiveness Checking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Classic switch statements are permissive. Enhanced switch expressions are stricter; JEP 361 states that switch expressions must be exhaustive.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PlaceHolder 1"/>
          <p:cNvSpPr>
            <a:spLocks noGrp="1"/>
          </p:cNvSpPr>
          <p:nvPr>
            <p:ph type="sldNum" idx="9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43DE07-C82E-4366-BC31-6C85D0608130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Feature Matrix (Part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Required Appendix A categories for Java enums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6" name="Table 0"/>
          <p:cNvGraphicFramePr/>
          <p:nvPr/>
        </p:nvGraphicFramePr>
        <p:xfrm>
          <a:off x="548640" y="1298520"/>
          <a:ext cx="11109600" cy="4132800"/>
        </p:xfrm>
        <a:graphic>
          <a:graphicData uri="http://schemas.openxmlformats.org/drawingml/2006/table">
            <a:tbl>
              <a:tblPr/>
              <a:tblGrid>
                <a:gridCol w="2057400"/>
                <a:gridCol w="9052560"/>
              </a:tblGrid>
              <a:tr h="383760">
                <a:tc>
                  <a:txBody>
                    <a:bodyPr lIns="54720" rIns="54720" tIns="54720" bIns="547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7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Feature Category</a:t>
                      </a:r>
                      <a:endParaRPr b="0" lang="en-US" sz="11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173f5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70" spc="-1" strike="noStrike">
                          <a:solidFill>
                            <a:srgbClr val="ffffff"/>
                          </a:solidFill>
                          <a:latin typeface="Aptos"/>
                          <a:ea typeface="Aptos"/>
                        </a:rPr>
                        <a:t>Java</a:t>
                      </a:r>
                      <a:endParaRPr b="0" lang="en-US" sz="11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173f5f"/>
                    </a:solidFill>
                  </a:tcPr>
                </a:tc>
              </a:tr>
              <a:tr h="6217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Iteration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Built in through values(), which returns the constants in declaration order. Reflection is optional, not required, for ordinary iteration.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0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Comparability &amp; Ordering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Enum constants can be compared with == safely. They are Comparable, and compareTo() / ordinal() reflect declaration order.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874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Serialization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Java enum classes are serializable and receive special handling from the serialization mechanism. The serialized representation cannot be customized. For JSON, many libraries serialize by name; renaming constants can break compatibility.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95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Namespace &amp; Scoping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Constants are scoped by the enum type, for example OrderStatus.PAID, so they do not pollute the outer namespace unless imported statically.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Nullability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70" spc="-1" strike="noStrike">
                          <a:solidFill>
                            <a:srgbClr val="1e293b"/>
                          </a:solidFill>
                          <a:latin typeface="Aptos"/>
                          <a:ea typeface="Aptos"/>
                        </a:rPr>
                        <a:t>Enum variables can be null because they are reference types. If code calls a method on a null enum, Java throws NullPointerException at runtime.</a:t>
                      </a:r>
                      <a:endParaRPr b="0" lang="en-US" sz="1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1d9e6"/>
                      </a:solidFill>
                      <a:prstDash val="solid"/>
                    </a:lnL>
                    <a:lnR w="12240">
                      <a:solidFill>
                        <a:srgbClr val="d1d9e6"/>
                      </a:solidFill>
                      <a:prstDash val="solid"/>
                    </a:lnR>
                    <a:lnT w="12240">
                      <a:solidFill>
                        <a:srgbClr val="d1d9e6"/>
                      </a:solidFill>
                      <a:prstDash val="solid"/>
                    </a:lnT>
                    <a:lnB w="12240">
                      <a:solidFill>
                        <a:srgbClr val="d1d9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PlaceHolder 1"/>
          <p:cNvSpPr>
            <a:spLocks noGrp="1"/>
          </p:cNvSpPr>
          <p:nvPr>
            <p:ph type="sldNum" idx="10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E524E-55AC-4185-B5E6-B88FDAF8F6D6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Design Analysis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Why Java enums were designed as classes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640080" y="1325880"/>
            <a:ext cx="3748680" cy="18741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640080" y="1325880"/>
            <a:ext cx="109440" cy="18741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841320" y="14356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Type system rationale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841320" y="1710000"/>
            <a:ext cx="34376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1e293b"/>
                </a:solidFill>
                <a:latin typeface="Aptos"/>
                <a:ea typeface="Aptos"/>
              </a:rPr>
              <a:t>Java is statically typed, so enum values are designed as a dedicated reference type rather than as ints. That makes API boundaries clearer and lets the compiler reject unrelated constant domains.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4544640" y="1325880"/>
            <a:ext cx="3748680" cy="18741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4544640" y="1325880"/>
            <a:ext cx="109440" cy="187416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4745880" y="14356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Object-oriented rationale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4745880" y="1710000"/>
            <a:ext cx="343764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1e293b"/>
                </a:solidFill>
                <a:latin typeface="Aptos"/>
                <a:ea typeface="Aptos"/>
              </a:rPr>
              <a:t>Java enums are class-like because Java leans heavily on object-oriented modeling. Fields, methods, constructors, and interfaces let an enum own both its data and its behavior.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8449200" y="1325880"/>
            <a:ext cx="3108600" cy="187416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8449200" y="1325880"/>
            <a:ext cx="109440" cy="18741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8650080" y="14356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Library and language fit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8650080" y="1710000"/>
            <a:ext cx="27975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30" spc="-1" strike="noStrike">
                <a:solidFill>
                  <a:srgbClr val="1e293b"/>
                </a:solidFill>
                <a:latin typeface="Aptos"/>
                <a:ea typeface="Aptos"/>
              </a:rPr>
              <a:t>Enums work well with switch, collections, serialization, and for-each loops. Oracle also provides specialized collections such as EnumSet and EnumMap for efficient use of enum keys and values.</a:t>
            </a:r>
            <a:endParaRPr b="0" lang="en-US" sz="1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4"/>
          <p:cNvSpPr/>
          <p:nvPr/>
        </p:nvSpPr>
        <p:spPr>
          <a:xfrm>
            <a:off x="777240" y="3703320"/>
            <a:ext cx="10515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e293b"/>
                </a:solidFill>
                <a:latin typeface="Aptos"/>
                <a:ea typeface="Aptos"/>
              </a:rPr>
              <a:t>Java enums are more structured than the “named int” style used in many older languages.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e293b"/>
                </a:solidFill>
                <a:latin typeface="Aptos"/>
                <a:ea typeface="Aptos"/>
              </a:rPr>
              <a:t>The design favors safety and maintainability over maximum flexibility.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800" spc="-1" strike="noStrike">
                <a:solidFill>
                  <a:srgbClr val="1e293b"/>
                </a:solidFill>
                <a:latin typeface="Aptos"/>
                <a:ea typeface="Aptos"/>
              </a:rPr>
              <a:t>This makes enums especially strong for domain modeling and fixed-state logic.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11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9B475B-16BE-4299-BEA8-0F8E26DD5835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Design Analysis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Strengths and trade-offs of Java enums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685800" y="1371600"/>
            <a:ext cx="4572000" cy="228600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685800" y="1371600"/>
            <a:ext cx="109440" cy="2286000"/>
          </a:xfrm>
          <a:prstGeom prst="rect">
            <a:avLst/>
          </a:prstGeom>
          <a:solidFill>
            <a:srgbClr val="2c7a59"/>
          </a:solidFill>
          <a:ln w="12700">
            <a:solidFill>
              <a:srgbClr val="2c7a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887040" y="1481400"/>
            <a:ext cx="5120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3f5f"/>
                </a:solidFill>
                <a:latin typeface="Aptos"/>
                <a:ea typeface="Aptos"/>
              </a:rPr>
              <a:t>Strengths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887040" y="1755720"/>
            <a:ext cx="50835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Strong type safety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Fields, constructors, and methods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Good fit for switch-based logic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Clear scoping and API readability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600" spc="-1" strike="noStrike">
                <a:solidFill>
                  <a:srgbClr val="1e293b"/>
                </a:solidFill>
                <a:latin typeface="Aptos"/>
                <a:ea typeface="Aptos"/>
              </a:rPr>
              <a:t>Built-in iteration with values()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6309360" y="1371600"/>
            <a:ext cx="5166000" cy="228600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6309360" y="1371600"/>
            <a:ext cx="109440" cy="22860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6510600" y="1481400"/>
            <a:ext cx="4891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3f5f"/>
                </a:solidFill>
                <a:latin typeface="Aptos"/>
                <a:ea typeface="Aptos"/>
              </a:rPr>
              <a:t>Trade-offs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6510600" y="1755720"/>
            <a:ext cx="485496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More verbose than lighter scripting approaches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Null is still possible at runtime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ordinal() can be misused as persistent data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50" spc="-1" strike="noStrike">
                <a:solidFill>
                  <a:srgbClr val="1e293b"/>
                </a:solidFill>
                <a:latin typeface="Aptos"/>
                <a:ea typeface="Aptos"/>
              </a:rPr>
              <a:t>Not ideal for fresh per-use payloads the way algebraic data types are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749880" y="525780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3f5f"/>
                </a:solidFill>
                <a:latin typeface="Aptos"/>
                <a:ea typeface="Aptos"/>
              </a:rPr>
              <a:t>Key point for the demo: Java enums reduce many constant-related bugs, but they do not eliminate all runtime mistakes.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sldNum" idx="12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E3F83C-91B4-47F7-9A6E-A178C154DC5E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Case Study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Using enums to structure a vending-machine state model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"/>
          <p:cNvSpPr/>
          <p:nvPr/>
        </p:nvSpPr>
        <p:spPr>
          <a:xfrm>
            <a:off x="658440" y="1325880"/>
            <a:ext cx="3840120" cy="3017520"/>
          </a:xfrm>
          <a:prstGeom prst="roundRect">
            <a:avLst>
              <a:gd name="adj" fmla="val 1429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822960" y="1398960"/>
            <a:ext cx="3511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Core enum set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4"/>
          <p:cNvSpPr/>
          <p:nvPr/>
        </p:nvSpPr>
        <p:spPr>
          <a:xfrm>
            <a:off x="804600" y="1618560"/>
            <a:ext cx="354744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4709160" y="1353240"/>
            <a:ext cx="2148840" cy="2075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4709160" y="1353240"/>
            <a:ext cx="91440" cy="207576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4910400" y="14630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3f5f"/>
                </a:solidFill>
                <a:latin typeface="Aptos"/>
                <a:ea typeface="Aptos"/>
              </a:rPr>
              <a:t>Problem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8"/>
          <p:cNvSpPr/>
          <p:nvPr/>
        </p:nvSpPr>
        <p:spPr>
          <a:xfrm>
            <a:off x="4910400" y="1737360"/>
            <a:ext cx="179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e293b"/>
                </a:solidFill>
                <a:latin typeface="Aptos"/>
                <a:ea typeface="Aptos"/>
              </a:rPr>
              <a:t>A vending machine has a fixed product set, a fixed price set, and a fixed state machine. If strings or ints are used everywhere, logic becomes harder to track and easier to misuse.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6995160" y="1353240"/>
            <a:ext cx="2148840" cy="2075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6995160" y="1353240"/>
            <a:ext cx="109440" cy="207576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7196400" y="146304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3f5f"/>
                </a:solidFill>
                <a:latin typeface="Aptos"/>
                <a:ea typeface="Aptos"/>
              </a:rPr>
              <a:t>Why enums helped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7196400" y="1737360"/>
            <a:ext cx="179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e293b"/>
                </a:solidFill>
                <a:latin typeface="Aptos"/>
                <a:ea typeface="Aptos"/>
              </a:rPr>
              <a:t>Enums drove the logic: state transitions, price lookup, stock checks, and valid product choices all flowed through named types.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9281160" y="1353240"/>
            <a:ext cx="2148840" cy="2075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9281160" y="1353240"/>
            <a:ext cx="109440" cy="207576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15"/>
          <p:cNvSpPr/>
          <p:nvPr/>
        </p:nvSpPr>
        <p:spPr>
          <a:xfrm>
            <a:off x="9482400" y="146304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73f5f"/>
                </a:solidFill>
                <a:latin typeface="Aptos"/>
                <a:ea typeface="Aptos"/>
              </a:rPr>
              <a:t>Outcome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6"/>
          <p:cNvSpPr/>
          <p:nvPr/>
        </p:nvSpPr>
        <p:spPr>
          <a:xfrm>
            <a:off x="9482400" y="1737360"/>
            <a:ext cx="19288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e293b"/>
                </a:solidFill>
                <a:latin typeface="Aptos"/>
                <a:ea typeface="Aptos"/>
              </a:rPr>
              <a:t>The code became easier to read, safer to maintain, and easier to present in the live demo. Removing the enums would require a real redesign, not just a search-and-replace.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7"/>
          <p:cNvSpPr/>
          <p:nvPr/>
        </p:nvSpPr>
        <p:spPr>
          <a:xfrm>
            <a:off x="4709160" y="3703320"/>
            <a:ext cx="65833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ProductType fixed the legal product values.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MachineState made the control flow explicit.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Price bound product names to pricing data.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This is an example where enum design enabled a well-structured solution.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sldNum" idx="13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8CD1AF-A784-491F-85C8-EA6A59F4C29F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914400" y="1943280"/>
            <a:ext cx="3340080" cy="171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Beyond Normal Usage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Invalid lookup and Java's enum safety model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685800" y="1371600"/>
            <a:ext cx="4160160" cy="274284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850320" y="1444680"/>
            <a:ext cx="383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Program 1 edge case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831960" y="1664280"/>
            <a:ext cx="38674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5074920" y="1417320"/>
            <a:ext cx="2011680" cy="201168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5074920" y="1417320"/>
            <a:ext cx="109440" cy="20116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5276160" y="15271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Expected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5276160" y="1801440"/>
            <a:ext cx="1700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Aptos"/>
                <a:ea typeface="Aptos"/>
              </a:rPr>
              <a:t>The lookup should fail because BLUE is not one of the declared constants.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7269480" y="1417320"/>
            <a:ext cx="2011320" cy="20574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7269480" y="1417320"/>
            <a:ext cx="109440" cy="20574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7470720" y="152712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Actual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7470720" y="1801440"/>
            <a:ext cx="1700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e293b"/>
                </a:solidFill>
                <a:latin typeface="Aptos"/>
                <a:ea typeface="Aptos"/>
              </a:rPr>
              <a:t>Java throws IllegalArgumentException at runtime when valueOf cannot find a matching constant.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3"/>
          <p:cNvSpPr/>
          <p:nvPr/>
        </p:nvSpPr>
        <p:spPr>
          <a:xfrm>
            <a:off x="9464040" y="1417320"/>
            <a:ext cx="2057040" cy="20116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9464040" y="1417320"/>
            <a:ext cx="109440" cy="20116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9665280" y="1527120"/>
            <a:ext cx="1782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What this reveals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9665280" y="1801440"/>
            <a:ext cx="1746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pc="-1" strike="noStrike">
                <a:solidFill>
                  <a:srgbClr val="1e293b"/>
                </a:solidFill>
                <a:latin typeface="Aptos"/>
                <a:ea typeface="Aptos"/>
              </a:rPr>
              <a:t>Java does not let arbitrary enum values exist directly. Invalid values usually enter through a lookup path such as valueOf or a custom mapper.</a:t>
            </a:r>
            <a:endParaRPr b="0" lang="en-US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5029200" y="3657600"/>
            <a:ext cx="6354720" cy="2102760"/>
          </a:xfrm>
          <a:prstGeom prst="roundRect">
            <a:avLst>
              <a:gd name="adj" fmla="val 2609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5239440" y="3136320"/>
            <a:ext cx="6025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Sample output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5221080" y="3355920"/>
            <a:ext cx="6062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1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Expected: valueOf with an invalid name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2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should fail at runtime.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3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4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Actual: exception -&gt;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5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java.lang.IllegalArgumentException: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6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No enum constant ... TrafficLight.BLUE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7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Caught: runtime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sldNum" idx="14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99FCE8-DDDA-42A4-A09C-99B6025FEA77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685800" y="1828800"/>
            <a:ext cx="4114800" cy="223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Beyond Normal Usage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Missing cases and exhaustiveness in switch logic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685800" y="1353240"/>
            <a:ext cx="4205880" cy="2834280"/>
          </a:xfrm>
          <a:prstGeom prst="roundRect">
            <a:avLst>
              <a:gd name="adj" fmla="val 1935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850320" y="1426320"/>
            <a:ext cx="3876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Enhanced switch expression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831960" y="1645920"/>
            <a:ext cx="391320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5166360" y="1508760"/>
            <a:ext cx="612612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" rIns="1080" tIns="1080" bIns="1080" anchor="t">
            <a:noAutofit/>
          </a:bodyPr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Classic switch statements are not required to be exhaustive.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JEP 361 says switch expressions must be exhaustive for all possible values.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1e293b"/>
                </a:solidFill>
                <a:latin typeface="Aptos"/>
                <a:ea typeface="Aptos"/>
              </a:rPr>
              <a:t>In the demo code, default is used to keep the program runnable when a case is deliberately left out or when a new enum constant is added later.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5367600" y="376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9"/>
          <p:cNvSpPr/>
          <p:nvPr/>
        </p:nvSpPr>
        <p:spPr>
          <a:xfrm>
            <a:off x="5367600" y="4041720"/>
            <a:ext cx="58150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Num" idx="15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5E985-5522-41CC-BE64-699AA0C5EF81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685800" y="1609920"/>
            <a:ext cx="4205880" cy="250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Beyond Normal Usage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Aptos"/>
                <a:ea typeface="Aptos"/>
              </a:rPr>
              <a:t>Nullability and method calls on null enum references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694800" y="1417320"/>
            <a:ext cx="4160160" cy="28800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859680" y="1490400"/>
            <a:ext cx="3831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Program 3 edge case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841320" y="1710000"/>
            <a:ext cx="386748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5074920" y="1481400"/>
            <a:ext cx="1783080" cy="14904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6"/>
          <p:cNvSpPr/>
          <p:nvPr/>
        </p:nvSpPr>
        <p:spPr>
          <a:xfrm>
            <a:off x="5074920" y="1481400"/>
            <a:ext cx="109440" cy="14904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5276160" y="159120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Expected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5276160" y="1865520"/>
            <a:ext cx="160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pc="-1" strike="noStrike">
                <a:solidFill>
                  <a:srgbClr val="1e293b"/>
                </a:solidFill>
                <a:latin typeface="Aptos"/>
                <a:ea typeface="Aptos"/>
              </a:rPr>
              <a:t>Calling an enum method on null should fail because null is not a valid object instance.</a:t>
            </a:r>
            <a:endParaRPr b="0" lang="en-US" sz="12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9"/>
          <p:cNvSpPr/>
          <p:nvPr/>
        </p:nvSpPr>
        <p:spPr>
          <a:xfrm>
            <a:off x="7223760" y="1481400"/>
            <a:ext cx="1919880" cy="14904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0"/>
          <p:cNvSpPr/>
          <p:nvPr/>
        </p:nvSpPr>
        <p:spPr>
          <a:xfrm>
            <a:off x="7223760" y="1481400"/>
            <a:ext cx="109440" cy="14904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7425000" y="159120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Actual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7425000" y="1865520"/>
            <a:ext cx="1608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70" spc="-1" strike="noStrike">
                <a:solidFill>
                  <a:srgbClr val="1e293b"/>
                </a:solidFill>
                <a:latin typeface="Aptos"/>
                <a:ea typeface="Aptos"/>
              </a:rPr>
              <a:t>Java throws NullPointerException at runtime.</a:t>
            </a:r>
            <a:endParaRPr b="0" lang="en-US" sz="1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3"/>
          <p:cNvSpPr/>
          <p:nvPr/>
        </p:nvSpPr>
        <p:spPr>
          <a:xfrm>
            <a:off x="9372600" y="1371600"/>
            <a:ext cx="2011320" cy="160020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4"/>
          <p:cNvSpPr/>
          <p:nvPr/>
        </p:nvSpPr>
        <p:spPr>
          <a:xfrm>
            <a:off x="9372600" y="1371600"/>
            <a:ext cx="109440" cy="160020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 15"/>
          <p:cNvSpPr/>
          <p:nvPr/>
        </p:nvSpPr>
        <p:spPr>
          <a:xfrm>
            <a:off x="9573840" y="1591200"/>
            <a:ext cx="1737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73f5f"/>
                </a:solidFill>
                <a:latin typeface="Aptos"/>
                <a:ea typeface="Aptos"/>
              </a:rPr>
              <a:t>What this reveals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6"/>
          <p:cNvSpPr/>
          <p:nvPr/>
        </p:nvSpPr>
        <p:spPr>
          <a:xfrm>
            <a:off x="9573840" y="1865520"/>
            <a:ext cx="1700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10" spc="-1" strike="noStrike">
                <a:solidFill>
                  <a:srgbClr val="1e293b"/>
                </a:solidFill>
                <a:latin typeface="Aptos"/>
                <a:ea typeface="Aptos"/>
              </a:rPr>
              <a:t>Enums are safer than int constants, but they are still reference types. Null must still be handled carefully in application code.</a:t>
            </a:r>
            <a:endParaRPr b="0" lang="en-US" sz="121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7"/>
          <p:cNvSpPr/>
          <p:nvPr/>
        </p:nvSpPr>
        <p:spPr>
          <a:xfrm>
            <a:off x="5074920" y="3154680"/>
            <a:ext cx="6327360" cy="191988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8"/>
          <p:cNvSpPr/>
          <p:nvPr/>
        </p:nvSpPr>
        <p:spPr>
          <a:xfrm>
            <a:off x="5239440" y="3227760"/>
            <a:ext cx="5997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bd5e1"/>
                </a:solidFill>
                <a:latin typeface="Aptos"/>
                <a:ea typeface="Aptos"/>
              </a:rPr>
              <a:t>Sample output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9"/>
          <p:cNvSpPr/>
          <p:nvPr/>
        </p:nvSpPr>
        <p:spPr>
          <a:xfrm>
            <a:off x="5221080" y="3447360"/>
            <a:ext cx="6034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1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Beyond Normal Usage: invoke 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2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on a null variable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3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4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Actual: exception -&gt;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5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java.lang.NullPointerException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292a2"/>
                </a:solidFill>
                <a:latin typeface="Consolas"/>
                <a:ea typeface="Consolas"/>
              </a:rPr>
              <a:t>6 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Caught: runtime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sldNum" idx="16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98089B-036D-4B46-A5CC-211967A06A54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694800" y="1714680"/>
            <a:ext cx="4160160" cy="240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0"/>
          <p:cNvSpPr/>
          <p:nvPr/>
        </p:nvSpPr>
        <p:spPr>
          <a:xfrm>
            <a:off x="548640" y="502920"/>
            <a:ext cx="8137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Conclusion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"/>
          <p:cNvSpPr/>
          <p:nvPr/>
        </p:nvSpPr>
        <p:spPr>
          <a:xfrm>
            <a:off x="567000" y="932760"/>
            <a:ext cx="7131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"/>
          <p:cNvSpPr/>
          <p:nvPr/>
        </p:nvSpPr>
        <p:spPr>
          <a:xfrm>
            <a:off x="713160" y="1417320"/>
            <a:ext cx="3611520" cy="338292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713160" y="1417320"/>
            <a:ext cx="109440" cy="3382920"/>
          </a:xfrm>
          <a:prstGeom prst="rect">
            <a:avLst/>
          </a:prstGeom>
          <a:solidFill>
            <a:srgbClr val="2c7a59"/>
          </a:solidFill>
          <a:ln w="12700">
            <a:solidFill>
              <a:srgbClr val="2c7a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914400" y="152712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3f5f"/>
                </a:solidFill>
                <a:latin typeface="Aptos"/>
                <a:ea typeface="Aptos"/>
              </a:rPr>
              <a:t>Best use cases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914400" y="1801440"/>
            <a:ext cx="33004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Large structured systems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Domain models with fixed states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Safer API design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Switch-driven business logic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80" spc="-1" strike="noStrike">
                <a:solidFill>
                  <a:srgbClr val="1e293b"/>
                </a:solidFill>
                <a:latin typeface="Aptos"/>
                <a:ea typeface="Aptos"/>
              </a:rPr>
              <a:t>Cases where fields and methods belong with the enum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4498920" y="1417320"/>
            <a:ext cx="3611520" cy="338292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7"/>
          <p:cNvSpPr/>
          <p:nvPr/>
        </p:nvSpPr>
        <p:spPr>
          <a:xfrm>
            <a:off x="4498920" y="1417320"/>
            <a:ext cx="109440" cy="33829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4700160" y="152712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3f5f"/>
                </a:solidFill>
                <a:latin typeface="Aptos"/>
                <a:ea typeface="Aptos"/>
              </a:rPr>
              <a:t>Less ideal when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9"/>
          <p:cNvSpPr/>
          <p:nvPr/>
        </p:nvSpPr>
        <p:spPr>
          <a:xfrm>
            <a:off x="4700160" y="1801440"/>
            <a:ext cx="33004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20" spc="-1" strike="noStrike">
                <a:solidFill>
                  <a:srgbClr val="1e293b"/>
                </a:solidFill>
                <a:latin typeface="Aptos"/>
                <a:ea typeface="Aptos"/>
              </a:rPr>
              <a:t>Maximum flexibility matters more than safety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20" spc="-1" strike="noStrike">
                <a:solidFill>
                  <a:srgbClr val="1e293b"/>
                </a:solidFill>
                <a:latin typeface="Aptos"/>
                <a:ea typeface="Aptos"/>
              </a:rPr>
              <a:t>You want fresh per-use payloads instead of fixed constants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1e293b"/>
                </a:solidFill>
                <a:latin typeface="Aptos"/>
                <a:ea typeface="Aptos"/>
              </a:rPr>
              <a:t>• </a:t>
            </a:r>
            <a:r>
              <a:rPr b="0" lang="en-US" sz="1520" spc="-1" strike="noStrike">
                <a:solidFill>
                  <a:srgbClr val="1e293b"/>
                </a:solidFill>
                <a:latin typeface="Aptos"/>
                <a:ea typeface="Aptos"/>
              </a:rPr>
              <a:t>Boilerplate cost matters more than structure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8284320" y="1417320"/>
            <a:ext cx="3154320" cy="3382920"/>
          </a:xfrm>
          <a:prstGeom prst="roundRect">
            <a:avLst>
              <a:gd name="adj" fmla="val 2029"/>
            </a:avLst>
          </a:prstGeom>
          <a:solidFill>
            <a:srgbClr val="ffffff"/>
          </a:solidFill>
          <a:ln w="12700">
            <a:solidFill>
              <a:srgbClr val="d1d9e6"/>
            </a:solidFill>
            <a:round/>
          </a:ln>
          <a:effectLst>
            <a:outerShdw algn="bl" blurRad="15120" dir="2700000" dist="6109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1"/>
          <p:cNvSpPr/>
          <p:nvPr/>
        </p:nvSpPr>
        <p:spPr>
          <a:xfrm>
            <a:off x="8284320" y="1417320"/>
            <a:ext cx="109440" cy="338292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8485560" y="1527120"/>
            <a:ext cx="2880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73f5f"/>
                </a:solidFill>
                <a:latin typeface="Aptos"/>
                <a:ea typeface="Aptos"/>
              </a:rPr>
              <a:t>Language comparison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8485560" y="1801440"/>
            <a:ext cx="28432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3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20" spc="-1" strike="noStrike">
                <a:solidFill>
                  <a:srgbClr val="1e293b"/>
                </a:solidFill>
                <a:latin typeface="Aptos"/>
                <a:ea typeface="Aptos"/>
              </a:rPr>
              <a:t>Java is stronger on structure and type safety, while the final team conclusion can compare that against Python's flexibility and lighter syntax.</a:t>
            </a:r>
            <a:endParaRPr b="0" lang="en-US" sz="13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777240" y="530352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73f5f"/>
                </a:solidFill>
                <a:latin typeface="Aptos Display"/>
                <a:ea typeface="Aptos Display"/>
              </a:rPr>
              <a:t>Bottom line: Java enums are best when fixed states need strong names, strong structure, and compiler-friendly control flow.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sldNum" idx="17"/>
          </p:nvPr>
        </p:nvSpPr>
        <p:spPr>
          <a:xfrm>
            <a:off x="11521440" y="6565320"/>
            <a:ext cx="36540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Aptos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56240-F7C6-4086-9514-ECAF94D3CB36}" type="slidenum">
              <a:rPr b="0" lang="en-US" sz="1000" spc="-1" strike="noStrike">
                <a:solidFill>
                  <a:srgbClr val="ffffff"/>
                </a:solidFill>
                <a:latin typeface="Aptos"/>
                <a:ea typeface="Apto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2026-03-31T02:39:19Z</dcterms:created>
  <dc:creator>OpenAI</dc:creator>
  <dc:description/>
  <dc:language>en-US</dc:language>
  <cp:lastModifiedBy/>
  <dcterms:modified xsi:type="dcterms:W3CDTF">2026-03-30T22:17:55Z</dcterms:modified>
  <cp:revision>2</cp:revision>
  <dc:subject>Java Enumeration Deliverable 2</dc:subject>
  <dc:title>Java Enumeration Types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